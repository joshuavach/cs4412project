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5"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577A02-1350-575A-625F-6D13E86912CA}" v="5381" dt="2026-04-25T21:12:04.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4/25/2026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85307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4/25/2026</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52056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4/25/2026</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044102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4/25/2026</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765341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4/25/2026</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683562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4/25/2026</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59921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4/25/2026</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766428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4/25/2026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97505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4/25/2026</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896403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4/25/2026</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024167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4/25/2026</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209380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4/25/2026</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dirty="0"/>
          </a:p>
        </p:txBody>
      </p:sp>
    </p:spTree>
    <p:extLst>
      <p:ext uri="{BB962C8B-B14F-4D97-AF65-F5344CB8AC3E}">
        <p14:creationId xmlns:p14="http://schemas.microsoft.com/office/powerpoint/2010/main" val="42656885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Video Game Sales Analysis</a:t>
            </a:r>
          </a:p>
        </p:txBody>
      </p:sp>
      <p:sp>
        <p:nvSpPr>
          <p:cNvPr id="3" name="Subtitle 2"/>
          <p:cNvSpPr>
            <a:spLocks noGrp="1"/>
          </p:cNvSpPr>
          <p:nvPr>
            <p:ph type="subTitle" idx="1"/>
          </p:nvPr>
        </p:nvSpPr>
        <p:spPr/>
        <p:txBody>
          <a:bodyPr vert="horz" lIns="91440" tIns="45720" rIns="91440" bIns="45720" rtlCol="0" anchor="t">
            <a:normAutofit/>
          </a:bodyPr>
          <a:lstStyle/>
          <a:p>
            <a:r>
              <a:rPr lang="en-US"/>
              <a:t>Joshua Vach</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BDA99-BCA4-1D7A-3252-A66E9BE1EF6F}"/>
              </a:ext>
            </a:extLst>
          </p:cNvPr>
          <p:cNvSpPr>
            <a:spLocks noGrp="1"/>
          </p:cNvSpPr>
          <p:nvPr>
            <p:ph type="title"/>
          </p:nvPr>
        </p:nvSpPr>
        <p:spPr/>
        <p:txBody>
          <a:bodyPr/>
          <a:lstStyle/>
          <a:p>
            <a:r>
              <a:rPr lang="en-US"/>
              <a:t>Project Overview</a:t>
            </a:r>
          </a:p>
        </p:txBody>
      </p:sp>
      <p:sp>
        <p:nvSpPr>
          <p:cNvPr id="3" name="Content Placeholder 2">
            <a:extLst>
              <a:ext uri="{FF2B5EF4-FFF2-40B4-BE49-F238E27FC236}">
                <a16:creationId xmlns:a16="http://schemas.microsoft.com/office/drawing/2014/main" id="{1A14D17D-0AFE-8EA5-23B5-84E74154DA6C}"/>
              </a:ext>
            </a:extLst>
          </p:cNvPr>
          <p:cNvSpPr>
            <a:spLocks noGrp="1"/>
          </p:cNvSpPr>
          <p:nvPr>
            <p:ph idx="1"/>
          </p:nvPr>
        </p:nvSpPr>
        <p:spPr/>
        <p:txBody>
          <a:bodyPr vert="horz" lIns="91440" tIns="45720" rIns="91440" bIns="45720" rtlCol="0" anchor="t">
            <a:normAutofit/>
          </a:bodyPr>
          <a:lstStyle/>
          <a:p>
            <a:r>
              <a:rPr lang="en-US" dirty="0"/>
              <a:t>This project analyzes a data set </a:t>
            </a:r>
            <a:r>
              <a:rPr lang="en-US"/>
              <a:t>holding</a:t>
            </a:r>
            <a:r>
              <a:rPr lang="en-US" dirty="0"/>
              <a:t> over 100,000 video games with data about their publisher, platform, release year, and sales in various regions.</a:t>
            </a:r>
          </a:p>
          <a:p>
            <a:r>
              <a:rPr lang="en-US" dirty="0"/>
              <a:t>Analysis will focus on trends based on sales within va</a:t>
            </a:r>
            <a:r>
              <a:rPr lang="en-US"/>
              <a:t>rious regions and how different variables will affect them.</a:t>
            </a:r>
            <a:endParaRPr lang="en-US" dirty="0"/>
          </a:p>
        </p:txBody>
      </p:sp>
      <p:sp>
        <p:nvSpPr>
          <p:cNvPr id="4" name="Date Placeholder 3">
            <a:extLst>
              <a:ext uri="{FF2B5EF4-FFF2-40B4-BE49-F238E27FC236}">
                <a16:creationId xmlns:a16="http://schemas.microsoft.com/office/drawing/2014/main" id="{531CC1D4-413E-AD19-7393-7322F1685B16}"/>
              </a:ext>
            </a:extLst>
          </p:cNvPr>
          <p:cNvSpPr>
            <a:spLocks noGrp="1"/>
          </p:cNvSpPr>
          <p:nvPr>
            <p:ph type="dt" sz="half" idx="10"/>
          </p:nvPr>
        </p:nvSpPr>
        <p:spPr/>
        <p:txBody>
          <a:bodyPr/>
          <a:lstStyle/>
          <a:p>
            <a:fld id="{4147CCFB-68F0-4BDE-87FE-0AFC9699E9EF}" type="datetime1">
              <a:t>4/25/2026</a:t>
            </a:fld>
            <a:endParaRPr lang="en-US" dirty="0"/>
          </a:p>
        </p:txBody>
      </p:sp>
      <p:sp>
        <p:nvSpPr>
          <p:cNvPr id="5" name="Footer Placeholder 4">
            <a:extLst>
              <a:ext uri="{FF2B5EF4-FFF2-40B4-BE49-F238E27FC236}">
                <a16:creationId xmlns:a16="http://schemas.microsoft.com/office/drawing/2014/main" id="{132E81B2-8536-1FA3-B435-63846AFCC70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E5AD069-029A-DB07-8CB1-C19004DF8633}"/>
              </a:ext>
            </a:extLst>
          </p:cNvPr>
          <p:cNvSpPr>
            <a:spLocks noGrp="1"/>
          </p:cNvSpPr>
          <p:nvPr>
            <p:ph type="sldNum" sz="quarter" idx="12"/>
          </p:nvPr>
        </p:nvSpPr>
        <p:spPr/>
        <p:txBody>
          <a:bodyPr/>
          <a:lstStyle/>
          <a:p>
            <a:fld id="{A65A5C87-DF58-40C8-B092-1DE63DB4547E}" type="slidenum">
              <a:rPr lang="en-US" dirty="0"/>
              <a:t>2</a:t>
            </a:fld>
            <a:endParaRPr lang="en-US" dirty="0"/>
          </a:p>
        </p:txBody>
      </p:sp>
    </p:spTree>
    <p:extLst>
      <p:ext uri="{BB962C8B-B14F-4D97-AF65-F5344CB8AC3E}">
        <p14:creationId xmlns:p14="http://schemas.microsoft.com/office/powerpoint/2010/main" val="2194135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48D4A-DC09-264D-7EE5-1FCBBC64961A}"/>
              </a:ext>
            </a:extLst>
          </p:cNvPr>
          <p:cNvSpPr>
            <a:spLocks noGrp="1"/>
          </p:cNvSpPr>
          <p:nvPr>
            <p:ph type="title"/>
          </p:nvPr>
        </p:nvSpPr>
        <p:spPr/>
        <p:txBody>
          <a:bodyPr/>
          <a:lstStyle/>
          <a:p>
            <a:r>
              <a:rPr lang="en-US"/>
              <a:t>Discovery Questions</a:t>
            </a:r>
          </a:p>
        </p:txBody>
      </p:sp>
      <p:sp>
        <p:nvSpPr>
          <p:cNvPr id="3" name="Content Placeholder 2">
            <a:extLst>
              <a:ext uri="{FF2B5EF4-FFF2-40B4-BE49-F238E27FC236}">
                <a16:creationId xmlns:a16="http://schemas.microsoft.com/office/drawing/2014/main" id="{817A9F6F-9E0B-96CD-062C-7802A24981DB}"/>
              </a:ext>
            </a:extLst>
          </p:cNvPr>
          <p:cNvSpPr>
            <a:spLocks noGrp="1"/>
          </p:cNvSpPr>
          <p:nvPr>
            <p:ph idx="1"/>
          </p:nvPr>
        </p:nvSpPr>
        <p:spPr/>
        <p:txBody>
          <a:bodyPr vert="horz" lIns="91440" tIns="45720" rIns="91440" bIns="45720" rtlCol="0" anchor="t">
            <a:normAutofit/>
          </a:bodyPr>
          <a:lstStyle/>
          <a:p>
            <a:pPr marL="342900" indent="-342900">
              <a:buAutoNum type="arabicPeriod"/>
            </a:pPr>
            <a:r>
              <a:rPr lang="en-US" sz="1800">
                <a:ea typeface="+mn-lt"/>
                <a:cs typeface="+mn-lt"/>
              </a:rPr>
              <a:t>Do publishers do better in their home markets or in other countries and does the platform or year affect this outcome? This question is interesting because it can show whether a company is more likely to find success in releasing their game abroad or not, and </a:t>
            </a:r>
            <a:r>
              <a:rPr lang="en-US" sz="1800" dirty="0">
                <a:ea typeface="+mn-lt"/>
                <a:cs typeface="+mn-lt"/>
              </a:rPr>
              <a:t>whether or not</a:t>
            </a:r>
            <a:r>
              <a:rPr lang="en-US" sz="1800">
                <a:ea typeface="+mn-lt"/>
                <a:cs typeface="+mn-lt"/>
              </a:rPr>
              <a:t> the platform matters in its success abroad.</a:t>
            </a:r>
            <a:endParaRPr lang="en-US">
              <a:ea typeface="+mn-lt"/>
              <a:cs typeface="+mn-lt"/>
            </a:endParaRPr>
          </a:p>
          <a:p>
            <a:pPr marL="342900" indent="-342900">
              <a:buAutoNum type="arabicPeriod"/>
            </a:pPr>
            <a:r>
              <a:rPr lang="en-US" sz="1800">
                <a:ea typeface="+mn-lt"/>
                <a:cs typeface="+mn-lt"/>
              </a:rPr>
              <a:t>Which platforms sold the most video games each year and were these dominated by specific </a:t>
            </a:r>
            <a:r>
              <a:rPr lang="en-US" sz="1800" dirty="0">
                <a:ea typeface="+mn-lt"/>
                <a:cs typeface="+mn-lt"/>
              </a:rPr>
              <a:t>games or a more broad spread. This can help find which platform was the largest in a specific year and if it was just a fluke due to one big game or a larger dominance in the </a:t>
            </a:r>
            <a:r>
              <a:rPr lang="en-US" sz="1800">
                <a:ea typeface="+mn-lt"/>
                <a:cs typeface="+mn-lt"/>
              </a:rPr>
              <a:t>market.</a:t>
            </a:r>
            <a:endParaRPr lang="en-US" dirty="0">
              <a:ea typeface="+mn-lt"/>
              <a:cs typeface="+mn-lt"/>
            </a:endParaRPr>
          </a:p>
          <a:p>
            <a:pPr marL="342900" indent="-342900">
              <a:buAutoNum type="arabicPeriod"/>
            </a:pPr>
            <a:r>
              <a:rPr lang="en-US" sz="1800">
                <a:ea typeface="+mn-lt"/>
                <a:cs typeface="+mn-lt"/>
              </a:rPr>
              <a:t>How have total sales changed over the years in the different major markets. This can tell us a </a:t>
            </a:r>
            <a:r>
              <a:rPr lang="en-US" sz="1800" dirty="0">
                <a:ea typeface="+mn-lt"/>
                <a:cs typeface="+mn-lt"/>
              </a:rPr>
              <a:t>lot about the economic situation in markets around the world because video games, being an entertainment good, are very likely to change in the face of economic growth or strife.</a:t>
            </a:r>
            <a:endParaRPr lang="en-US">
              <a:ea typeface="+mn-lt"/>
              <a:cs typeface="+mn-lt"/>
            </a:endParaRPr>
          </a:p>
        </p:txBody>
      </p:sp>
      <p:sp>
        <p:nvSpPr>
          <p:cNvPr id="4" name="Date Placeholder 3">
            <a:extLst>
              <a:ext uri="{FF2B5EF4-FFF2-40B4-BE49-F238E27FC236}">
                <a16:creationId xmlns:a16="http://schemas.microsoft.com/office/drawing/2014/main" id="{D7F14656-A2A2-4BFD-7481-C0414B5E75E8}"/>
              </a:ext>
            </a:extLst>
          </p:cNvPr>
          <p:cNvSpPr>
            <a:spLocks noGrp="1"/>
          </p:cNvSpPr>
          <p:nvPr>
            <p:ph type="dt" sz="half" idx="10"/>
          </p:nvPr>
        </p:nvSpPr>
        <p:spPr/>
        <p:txBody>
          <a:bodyPr/>
          <a:lstStyle/>
          <a:p>
            <a:fld id="{3F6ED993-88EA-4867-98B1-EC3DE5A9CE26}" type="datetime1">
              <a:t>4/25/2026</a:t>
            </a:fld>
            <a:endParaRPr lang="en-US" dirty="0"/>
          </a:p>
        </p:txBody>
      </p:sp>
      <p:sp>
        <p:nvSpPr>
          <p:cNvPr id="5" name="Footer Placeholder 4">
            <a:extLst>
              <a:ext uri="{FF2B5EF4-FFF2-40B4-BE49-F238E27FC236}">
                <a16:creationId xmlns:a16="http://schemas.microsoft.com/office/drawing/2014/main" id="{1B0661A7-13C4-E67E-E6CF-F1934760D5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9359D4-701E-72A4-04A6-9296CB0EB30A}"/>
              </a:ext>
            </a:extLst>
          </p:cNvPr>
          <p:cNvSpPr>
            <a:spLocks noGrp="1"/>
          </p:cNvSpPr>
          <p:nvPr>
            <p:ph type="sldNum" sz="quarter" idx="12"/>
          </p:nvPr>
        </p:nvSpPr>
        <p:spPr/>
        <p:txBody>
          <a:bodyPr/>
          <a:lstStyle/>
          <a:p>
            <a:fld id="{A65A5C87-DF58-40C8-B092-1DE63DB4547E}" type="slidenum">
              <a:rPr lang="en-US" dirty="0"/>
              <a:t>3</a:t>
            </a:fld>
            <a:endParaRPr lang="en-US" dirty="0"/>
          </a:p>
        </p:txBody>
      </p:sp>
    </p:spTree>
    <p:extLst>
      <p:ext uri="{BB962C8B-B14F-4D97-AF65-F5344CB8AC3E}">
        <p14:creationId xmlns:p14="http://schemas.microsoft.com/office/powerpoint/2010/main" val="1327484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B6D89-9F2C-D650-A39B-4236B4F8EC9F}"/>
              </a:ext>
            </a:extLst>
          </p:cNvPr>
          <p:cNvSpPr>
            <a:spLocks noGrp="1"/>
          </p:cNvSpPr>
          <p:nvPr>
            <p:ph type="title"/>
          </p:nvPr>
        </p:nvSpPr>
        <p:spPr/>
        <p:txBody>
          <a:bodyPr/>
          <a:lstStyle/>
          <a:p>
            <a:r>
              <a:rPr lang="en-US"/>
              <a:t>Methods Used (K-Means)</a:t>
            </a:r>
          </a:p>
        </p:txBody>
      </p:sp>
      <p:sp>
        <p:nvSpPr>
          <p:cNvPr id="3" name="Content Placeholder 2">
            <a:extLst>
              <a:ext uri="{FF2B5EF4-FFF2-40B4-BE49-F238E27FC236}">
                <a16:creationId xmlns:a16="http://schemas.microsoft.com/office/drawing/2014/main" id="{0523598A-484D-2BEB-56F9-6172FE27AD5F}"/>
              </a:ext>
            </a:extLst>
          </p:cNvPr>
          <p:cNvSpPr>
            <a:spLocks noGrp="1"/>
          </p:cNvSpPr>
          <p:nvPr>
            <p:ph idx="1"/>
          </p:nvPr>
        </p:nvSpPr>
        <p:spPr/>
        <p:txBody>
          <a:bodyPr vert="horz" lIns="91440" tIns="45720" rIns="91440" bIns="45720" rtlCol="0" anchor="t">
            <a:normAutofit/>
          </a:bodyPr>
          <a:lstStyle/>
          <a:p>
            <a:r>
              <a:rPr lang="en-US" sz="2400"/>
              <a:t>K-Means: 3 implementations used for more specific data points</a:t>
            </a:r>
          </a:p>
          <a:p>
            <a:pPr marL="800100" lvl="1">
              <a:buFont typeface="Courier New" panose="020B0604020202020204" pitchFamily="34" charset="0"/>
              <a:buChar char="o"/>
            </a:pPr>
            <a:r>
              <a:rPr lang="en-US" sz="2000"/>
              <a:t>First: Compares the sales for the three main regions, North America, Japan, and Europe, and made a percentage of these compared to total game sales.</a:t>
            </a:r>
          </a:p>
          <a:p>
            <a:pPr marL="800100" lvl="1">
              <a:buFont typeface="Courier New" panose="020B0604020202020204" pitchFamily="34" charset="0"/>
              <a:buChar char="o"/>
            </a:pPr>
            <a:r>
              <a:rPr lang="en-US" sz="2000" dirty="0"/>
              <a:t>Second: Compares the top game of a certain platform and compares it to the total sales of the games released on that platform that year and </a:t>
            </a:r>
            <a:r>
              <a:rPr lang="en-US" sz="2000"/>
              <a:t>compares the ratio between these two data points.</a:t>
            </a:r>
          </a:p>
          <a:p>
            <a:pPr marL="800100" lvl="1">
              <a:buFont typeface="Courier New" panose="020B0604020202020204" pitchFamily="34" charset="0"/>
              <a:buChar char="o"/>
            </a:pPr>
            <a:r>
              <a:rPr lang="en-US" sz="2000"/>
              <a:t>Third: Compares the total yearly sales to each major regions yearly sales  </a:t>
            </a:r>
            <a:endParaRPr lang="en-US" sz="2000" dirty="0"/>
          </a:p>
        </p:txBody>
      </p:sp>
      <p:sp>
        <p:nvSpPr>
          <p:cNvPr id="4" name="Date Placeholder 3">
            <a:extLst>
              <a:ext uri="{FF2B5EF4-FFF2-40B4-BE49-F238E27FC236}">
                <a16:creationId xmlns:a16="http://schemas.microsoft.com/office/drawing/2014/main" id="{9CEAADC8-CB09-2FC8-4FFA-952D3B6D3579}"/>
              </a:ext>
            </a:extLst>
          </p:cNvPr>
          <p:cNvSpPr>
            <a:spLocks noGrp="1"/>
          </p:cNvSpPr>
          <p:nvPr>
            <p:ph type="dt" sz="half" idx="10"/>
          </p:nvPr>
        </p:nvSpPr>
        <p:spPr/>
        <p:txBody>
          <a:bodyPr/>
          <a:lstStyle/>
          <a:p>
            <a:fld id="{17E1C3F0-DBEF-4B4F-8766-AC9F9854D987}" type="datetime1">
              <a:t>4/25/2026</a:t>
            </a:fld>
            <a:endParaRPr lang="en-US" dirty="0"/>
          </a:p>
        </p:txBody>
      </p:sp>
      <p:sp>
        <p:nvSpPr>
          <p:cNvPr id="5" name="Footer Placeholder 4">
            <a:extLst>
              <a:ext uri="{FF2B5EF4-FFF2-40B4-BE49-F238E27FC236}">
                <a16:creationId xmlns:a16="http://schemas.microsoft.com/office/drawing/2014/main" id="{519FE20F-BF90-AC34-6E76-B67D3ADEB8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3BD36C3-C8E8-131F-A03F-522CCDA2FFC6}"/>
              </a:ext>
            </a:extLst>
          </p:cNvPr>
          <p:cNvSpPr>
            <a:spLocks noGrp="1"/>
          </p:cNvSpPr>
          <p:nvPr>
            <p:ph type="sldNum" sz="quarter" idx="12"/>
          </p:nvPr>
        </p:nvSpPr>
        <p:spPr/>
        <p:txBody>
          <a:bodyPr/>
          <a:lstStyle/>
          <a:p>
            <a:fld id="{A65A5C87-DF58-40C8-B092-1DE63DB4547E}" type="slidenum">
              <a:rPr lang="en-US" dirty="0"/>
              <a:t>4</a:t>
            </a:fld>
            <a:endParaRPr lang="en-US" dirty="0"/>
          </a:p>
        </p:txBody>
      </p:sp>
    </p:spTree>
    <p:extLst>
      <p:ext uri="{BB962C8B-B14F-4D97-AF65-F5344CB8AC3E}">
        <p14:creationId xmlns:p14="http://schemas.microsoft.com/office/powerpoint/2010/main" val="164633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EE0F-81AC-6690-1DEB-17D25FCDAA22}"/>
              </a:ext>
            </a:extLst>
          </p:cNvPr>
          <p:cNvSpPr>
            <a:spLocks noGrp="1"/>
          </p:cNvSpPr>
          <p:nvPr>
            <p:ph type="title"/>
          </p:nvPr>
        </p:nvSpPr>
        <p:spPr/>
        <p:txBody>
          <a:bodyPr/>
          <a:lstStyle/>
          <a:p>
            <a:r>
              <a:rPr lang="en-US"/>
              <a:t>Methods Used (Cont.)</a:t>
            </a:r>
          </a:p>
        </p:txBody>
      </p:sp>
      <p:sp>
        <p:nvSpPr>
          <p:cNvPr id="3" name="Content Placeholder 2">
            <a:extLst>
              <a:ext uri="{FF2B5EF4-FFF2-40B4-BE49-F238E27FC236}">
                <a16:creationId xmlns:a16="http://schemas.microsoft.com/office/drawing/2014/main" id="{2E7FB8EA-C329-73B0-6948-ACE9F43E3274}"/>
              </a:ext>
            </a:extLst>
          </p:cNvPr>
          <p:cNvSpPr>
            <a:spLocks noGrp="1"/>
          </p:cNvSpPr>
          <p:nvPr>
            <p:ph idx="1"/>
          </p:nvPr>
        </p:nvSpPr>
        <p:spPr/>
        <p:txBody>
          <a:bodyPr vert="horz" lIns="91440" tIns="45720" rIns="91440" bIns="45720" rtlCol="0" anchor="t">
            <a:normAutofit/>
          </a:bodyPr>
          <a:lstStyle/>
          <a:p>
            <a:r>
              <a:rPr lang="en-US" sz="2400" dirty="0" err="1"/>
              <a:t>FPGrowth</a:t>
            </a:r>
            <a:r>
              <a:rPr lang="en-US" sz="2400" dirty="0"/>
              <a:t>: Creates 3 indicators for games with higher than average sales in the three main markets, Japan, North America, and Europe. This alongside the datasets other variables was used to create the top predictors for the three markets</a:t>
            </a:r>
          </a:p>
          <a:p>
            <a:r>
              <a:rPr lang="en-US" sz="2400"/>
              <a:t>Isolation Forest: Focuses on the sales in the 3 major markets as well as other sales and total sales to show games that overperform in certain areas.</a:t>
            </a:r>
            <a:endParaRPr lang="en-US" sz="2400" dirty="0"/>
          </a:p>
        </p:txBody>
      </p:sp>
      <p:sp>
        <p:nvSpPr>
          <p:cNvPr id="4" name="Date Placeholder 3">
            <a:extLst>
              <a:ext uri="{FF2B5EF4-FFF2-40B4-BE49-F238E27FC236}">
                <a16:creationId xmlns:a16="http://schemas.microsoft.com/office/drawing/2014/main" id="{A6B154E0-5DF4-500E-8794-29103C0F1F1A}"/>
              </a:ext>
            </a:extLst>
          </p:cNvPr>
          <p:cNvSpPr>
            <a:spLocks noGrp="1"/>
          </p:cNvSpPr>
          <p:nvPr>
            <p:ph type="dt" sz="half" idx="10"/>
          </p:nvPr>
        </p:nvSpPr>
        <p:spPr/>
        <p:txBody>
          <a:bodyPr/>
          <a:lstStyle/>
          <a:p>
            <a:fld id="{3CD8304B-73E5-4921-8016-11192D0B6A4B}" type="datetime1">
              <a:t>4/25/2026</a:t>
            </a:fld>
            <a:endParaRPr lang="en-US" dirty="0"/>
          </a:p>
        </p:txBody>
      </p:sp>
      <p:sp>
        <p:nvSpPr>
          <p:cNvPr id="5" name="Footer Placeholder 4">
            <a:extLst>
              <a:ext uri="{FF2B5EF4-FFF2-40B4-BE49-F238E27FC236}">
                <a16:creationId xmlns:a16="http://schemas.microsoft.com/office/drawing/2014/main" id="{B0B805D6-D737-EB0B-EB6A-C48E449C60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AB4CC03-B598-CCFA-ECA3-73B0B2947D78}"/>
              </a:ext>
            </a:extLst>
          </p:cNvPr>
          <p:cNvSpPr>
            <a:spLocks noGrp="1"/>
          </p:cNvSpPr>
          <p:nvPr>
            <p:ph type="sldNum" sz="quarter" idx="12"/>
          </p:nvPr>
        </p:nvSpPr>
        <p:spPr/>
        <p:txBody>
          <a:bodyPr/>
          <a:lstStyle/>
          <a:p>
            <a:fld id="{A65A5C87-DF58-40C8-B092-1DE63DB4547E}" type="slidenum">
              <a:rPr lang="en-US" dirty="0"/>
              <a:t>5</a:t>
            </a:fld>
            <a:endParaRPr lang="en-US" dirty="0"/>
          </a:p>
        </p:txBody>
      </p:sp>
    </p:spTree>
    <p:extLst>
      <p:ext uri="{BB962C8B-B14F-4D97-AF65-F5344CB8AC3E}">
        <p14:creationId xmlns:p14="http://schemas.microsoft.com/office/powerpoint/2010/main" val="321398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74DB-4E5E-38F3-955F-EDA7128A5D04}"/>
              </a:ext>
            </a:extLst>
          </p:cNvPr>
          <p:cNvSpPr>
            <a:spLocks noGrp="1"/>
          </p:cNvSpPr>
          <p:nvPr>
            <p:ph type="title"/>
          </p:nvPr>
        </p:nvSpPr>
        <p:spPr/>
        <p:txBody>
          <a:bodyPr/>
          <a:lstStyle/>
          <a:p>
            <a:r>
              <a:rPr lang="en-US"/>
              <a:t>Results K-Means (Question 1) </a:t>
            </a:r>
          </a:p>
        </p:txBody>
      </p:sp>
      <p:pic>
        <p:nvPicPr>
          <p:cNvPr id="7" name="Content Placeholder 6" descr="A chart of different colored dots&#10;&#10;AI-generated content may be incorrect.">
            <a:extLst>
              <a:ext uri="{FF2B5EF4-FFF2-40B4-BE49-F238E27FC236}">
                <a16:creationId xmlns:a16="http://schemas.microsoft.com/office/drawing/2014/main" id="{57C76687-A212-291F-D910-B9E21EF645C7}"/>
              </a:ext>
            </a:extLst>
          </p:cNvPr>
          <p:cNvPicPr>
            <a:picLocks noGrp="1" noChangeAspect="1"/>
          </p:cNvPicPr>
          <p:nvPr>
            <p:ph idx="1"/>
          </p:nvPr>
        </p:nvPicPr>
        <p:blipFill>
          <a:blip r:embed="rId2"/>
          <a:stretch>
            <a:fillRect/>
          </a:stretch>
        </p:blipFill>
        <p:spPr>
          <a:xfrm>
            <a:off x="8324044" y="4628325"/>
            <a:ext cx="3872218" cy="2097109"/>
          </a:xfrm>
          <a:prstGeom prst="rect">
            <a:avLst/>
          </a:prstGeom>
        </p:spPr>
      </p:pic>
      <p:sp>
        <p:nvSpPr>
          <p:cNvPr id="4" name="Date Placeholder 3">
            <a:extLst>
              <a:ext uri="{FF2B5EF4-FFF2-40B4-BE49-F238E27FC236}">
                <a16:creationId xmlns:a16="http://schemas.microsoft.com/office/drawing/2014/main" id="{B7478E5B-E522-4D3F-EF65-DCA8157B55BF}"/>
              </a:ext>
            </a:extLst>
          </p:cNvPr>
          <p:cNvSpPr>
            <a:spLocks noGrp="1"/>
          </p:cNvSpPr>
          <p:nvPr>
            <p:ph type="dt" sz="half" idx="10"/>
          </p:nvPr>
        </p:nvSpPr>
        <p:spPr/>
        <p:txBody>
          <a:bodyPr/>
          <a:lstStyle/>
          <a:p>
            <a:fld id="{09E0BAD7-CF13-4897-AE1F-53B3153E657A}" type="datetime1">
              <a:t>4/25/2026</a:t>
            </a:fld>
            <a:endParaRPr lang="en-US" dirty="0"/>
          </a:p>
        </p:txBody>
      </p:sp>
      <p:sp>
        <p:nvSpPr>
          <p:cNvPr id="5" name="Footer Placeholder 4">
            <a:extLst>
              <a:ext uri="{FF2B5EF4-FFF2-40B4-BE49-F238E27FC236}">
                <a16:creationId xmlns:a16="http://schemas.microsoft.com/office/drawing/2014/main" id="{F37942E9-71AE-D658-F547-AC7B9286C86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B3898F2-9BFF-7AEF-A3EC-4F919B83D3A3}"/>
              </a:ext>
            </a:extLst>
          </p:cNvPr>
          <p:cNvSpPr>
            <a:spLocks noGrp="1"/>
          </p:cNvSpPr>
          <p:nvPr>
            <p:ph type="sldNum" sz="quarter" idx="12"/>
          </p:nvPr>
        </p:nvSpPr>
        <p:spPr/>
        <p:txBody>
          <a:bodyPr/>
          <a:lstStyle/>
          <a:p>
            <a:fld id="{A65A5C87-DF58-40C8-B092-1DE63DB4547E}" type="slidenum">
              <a:rPr lang="en-US" dirty="0"/>
              <a:t>6</a:t>
            </a:fld>
            <a:endParaRPr lang="en-US" dirty="0"/>
          </a:p>
        </p:txBody>
      </p:sp>
      <p:pic>
        <p:nvPicPr>
          <p:cNvPr id="8" name="Picture 7" descr="A chart of different colored dots&#10;&#10;AI-generated content may be incorrect.">
            <a:extLst>
              <a:ext uri="{FF2B5EF4-FFF2-40B4-BE49-F238E27FC236}">
                <a16:creationId xmlns:a16="http://schemas.microsoft.com/office/drawing/2014/main" id="{FE0FDC00-E96F-3160-B021-77025019405D}"/>
              </a:ext>
            </a:extLst>
          </p:cNvPr>
          <p:cNvPicPr>
            <a:picLocks noChangeAspect="1"/>
          </p:cNvPicPr>
          <p:nvPr/>
        </p:nvPicPr>
        <p:blipFill>
          <a:blip r:embed="rId3"/>
          <a:stretch>
            <a:fillRect/>
          </a:stretch>
        </p:blipFill>
        <p:spPr>
          <a:xfrm>
            <a:off x="8308409" y="2365330"/>
            <a:ext cx="3884114" cy="2127339"/>
          </a:xfrm>
          <a:prstGeom prst="rect">
            <a:avLst/>
          </a:prstGeom>
        </p:spPr>
      </p:pic>
      <p:pic>
        <p:nvPicPr>
          <p:cNvPr id="9" name="Picture 8" descr="A chart of different colored dots&#10;&#10;AI-generated content may be incorrect.">
            <a:extLst>
              <a:ext uri="{FF2B5EF4-FFF2-40B4-BE49-F238E27FC236}">
                <a16:creationId xmlns:a16="http://schemas.microsoft.com/office/drawing/2014/main" id="{CF1B4AB7-2AEF-AA63-82A2-257E651DC2DA}"/>
              </a:ext>
            </a:extLst>
          </p:cNvPr>
          <p:cNvPicPr>
            <a:picLocks noChangeAspect="1"/>
          </p:cNvPicPr>
          <p:nvPr/>
        </p:nvPicPr>
        <p:blipFill>
          <a:blip r:embed="rId4"/>
          <a:stretch>
            <a:fillRect/>
          </a:stretch>
        </p:blipFill>
        <p:spPr>
          <a:xfrm>
            <a:off x="8321457" y="165448"/>
            <a:ext cx="3868717" cy="2109202"/>
          </a:xfrm>
          <a:prstGeom prst="rect">
            <a:avLst/>
          </a:prstGeom>
        </p:spPr>
      </p:pic>
      <p:sp>
        <p:nvSpPr>
          <p:cNvPr id="11" name="TextBox 10">
            <a:extLst>
              <a:ext uri="{FF2B5EF4-FFF2-40B4-BE49-F238E27FC236}">
                <a16:creationId xmlns:a16="http://schemas.microsoft.com/office/drawing/2014/main" id="{DF2D471A-9992-F8B4-0FC9-34F659B271A6}"/>
              </a:ext>
            </a:extLst>
          </p:cNvPr>
          <p:cNvSpPr txBox="1"/>
          <p:nvPr/>
        </p:nvSpPr>
        <p:spPr>
          <a:xfrm>
            <a:off x="581032" y="2146592"/>
            <a:ext cx="7488863"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t>Cluster 2 is the cluster focused mainly on Japanese games with many of them having most of their sales only in Japan showing a clear relationship with Japan having more exclusive games that </a:t>
            </a:r>
            <a:r>
              <a:rPr lang="en-US" sz="1600"/>
              <a:t>than other markets.</a:t>
            </a:r>
            <a:endParaRPr lang="en-US" sz="1600" dirty="0"/>
          </a:p>
          <a:p>
            <a:pPr marL="285750" indent="-285750">
              <a:buFont typeface="Arial"/>
              <a:buChar char="•"/>
            </a:pPr>
            <a:r>
              <a:rPr lang="en-US" sz="1600" dirty="0"/>
              <a:t>Cluster 3 is focused mainly on Europe which mainly begins to appear after the year 2000 showing their  consumer base is relatively recent while still having a decent number of games that are popular in Europe and nowhere else.</a:t>
            </a:r>
          </a:p>
          <a:p>
            <a:pPr marL="285750" indent="-285750">
              <a:buFont typeface="Arial"/>
              <a:buChar char="•"/>
            </a:pPr>
            <a:r>
              <a:rPr lang="en-US" sz="1600" dirty="0"/>
              <a:t>Cluster 0 and 1 are both North American centric clusters with 0 being the earlier stages mainly early 2000s and 1 being focused mostly post-2005. This shows multiple games also having almost 100% of their sales in North America in line with th</a:t>
            </a:r>
            <a:r>
              <a:rPr lang="en-US" sz="1600"/>
              <a:t>e other two markets.</a:t>
            </a:r>
          </a:p>
          <a:p>
            <a:pPr marL="285750" indent="-285750">
              <a:buFont typeface="Arial"/>
              <a:buChar char="•"/>
            </a:pPr>
            <a:r>
              <a:rPr lang="en-US" sz="1600" dirty="0"/>
              <a:t>Due to every market containing games that only perform well in one region this shows that markets have preferences that others do not and many developers do capitalize on this to create games for specific markets. </a:t>
            </a:r>
            <a:r>
              <a:rPr lang="en-US" sz="1600"/>
              <a:t>While this does not directly tell whether these were made by developers in these regions it is likely that they are.</a:t>
            </a:r>
            <a:endParaRPr lang="en-US" sz="1600" dirty="0"/>
          </a:p>
        </p:txBody>
      </p:sp>
    </p:spTree>
    <p:extLst>
      <p:ext uri="{BB962C8B-B14F-4D97-AF65-F5344CB8AC3E}">
        <p14:creationId xmlns:p14="http://schemas.microsoft.com/office/powerpoint/2010/main" val="974474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14462-B34C-8CF4-5834-C899B36A8E60}"/>
              </a:ext>
            </a:extLst>
          </p:cNvPr>
          <p:cNvSpPr>
            <a:spLocks noGrp="1"/>
          </p:cNvSpPr>
          <p:nvPr>
            <p:ph type="title"/>
          </p:nvPr>
        </p:nvSpPr>
        <p:spPr/>
        <p:txBody>
          <a:bodyPr/>
          <a:lstStyle/>
          <a:p>
            <a:r>
              <a:rPr lang="en-US"/>
              <a:t>Results: K-Means (Questions 1 and 2) </a:t>
            </a:r>
          </a:p>
        </p:txBody>
      </p:sp>
      <p:pic>
        <p:nvPicPr>
          <p:cNvPr id="7" name="Content Placeholder 6">
            <a:extLst>
              <a:ext uri="{FF2B5EF4-FFF2-40B4-BE49-F238E27FC236}">
                <a16:creationId xmlns:a16="http://schemas.microsoft.com/office/drawing/2014/main" id="{2BF1C27E-74B4-49CF-74FD-99B9B6B95CBF}"/>
              </a:ext>
            </a:extLst>
          </p:cNvPr>
          <p:cNvPicPr>
            <a:picLocks noGrp="1" noChangeAspect="1"/>
          </p:cNvPicPr>
          <p:nvPr>
            <p:ph idx="1"/>
          </p:nvPr>
        </p:nvPicPr>
        <p:blipFill>
          <a:blip r:embed="rId2"/>
          <a:stretch>
            <a:fillRect/>
          </a:stretch>
        </p:blipFill>
        <p:spPr>
          <a:xfrm>
            <a:off x="7532628" y="1522294"/>
            <a:ext cx="4656958" cy="2906346"/>
          </a:xfrm>
          <a:prstGeom prst="rect">
            <a:avLst/>
          </a:prstGeom>
        </p:spPr>
      </p:pic>
      <p:sp>
        <p:nvSpPr>
          <p:cNvPr id="4" name="Date Placeholder 3">
            <a:extLst>
              <a:ext uri="{FF2B5EF4-FFF2-40B4-BE49-F238E27FC236}">
                <a16:creationId xmlns:a16="http://schemas.microsoft.com/office/drawing/2014/main" id="{C7A9087D-2462-E13A-3549-3B5528466FF6}"/>
              </a:ext>
            </a:extLst>
          </p:cNvPr>
          <p:cNvSpPr>
            <a:spLocks noGrp="1"/>
          </p:cNvSpPr>
          <p:nvPr>
            <p:ph type="dt" sz="half" idx="10"/>
          </p:nvPr>
        </p:nvSpPr>
        <p:spPr/>
        <p:txBody>
          <a:bodyPr/>
          <a:lstStyle/>
          <a:p>
            <a:fld id="{39C0C794-B696-4048-B2F3-2B77C14550F8}" type="datetime1">
              <a:t>4/25/2026</a:t>
            </a:fld>
            <a:endParaRPr lang="en-US" dirty="0"/>
          </a:p>
        </p:txBody>
      </p:sp>
      <p:sp>
        <p:nvSpPr>
          <p:cNvPr id="5" name="Footer Placeholder 4">
            <a:extLst>
              <a:ext uri="{FF2B5EF4-FFF2-40B4-BE49-F238E27FC236}">
                <a16:creationId xmlns:a16="http://schemas.microsoft.com/office/drawing/2014/main" id="{0C971723-5668-E3DB-0D1A-2F7ABA0823A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61C2FA-B41C-F638-BBA0-E287E646FCC9}"/>
              </a:ext>
            </a:extLst>
          </p:cNvPr>
          <p:cNvSpPr>
            <a:spLocks noGrp="1"/>
          </p:cNvSpPr>
          <p:nvPr>
            <p:ph type="sldNum" sz="quarter" idx="12"/>
          </p:nvPr>
        </p:nvSpPr>
        <p:spPr/>
        <p:txBody>
          <a:bodyPr/>
          <a:lstStyle/>
          <a:p>
            <a:fld id="{A65A5C87-DF58-40C8-B092-1DE63DB4547E}" type="slidenum">
              <a:rPr lang="en-US" dirty="0"/>
              <a:t>7</a:t>
            </a:fld>
            <a:endParaRPr lang="en-US" dirty="0"/>
          </a:p>
        </p:txBody>
      </p:sp>
      <p:pic>
        <p:nvPicPr>
          <p:cNvPr id="8" name="Picture 7">
            <a:extLst>
              <a:ext uri="{FF2B5EF4-FFF2-40B4-BE49-F238E27FC236}">
                <a16:creationId xmlns:a16="http://schemas.microsoft.com/office/drawing/2014/main" id="{55611A56-8880-2CFB-2B56-CAB039C2E320}"/>
              </a:ext>
            </a:extLst>
          </p:cNvPr>
          <p:cNvPicPr>
            <a:picLocks noChangeAspect="1"/>
          </p:cNvPicPr>
          <p:nvPr/>
        </p:nvPicPr>
        <p:blipFill>
          <a:blip r:embed="rId3"/>
          <a:stretch>
            <a:fillRect/>
          </a:stretch>
        </p:blipFill>
        <p:spPr>
          <a:xfrm>
            <a:off x="7529592" y="4422760"/>
            <a:ext cx="4662408" cy="2429496"/>
          </a:xfrm>
          <a:prstGeom prst="rect">
            <a:avLst/>
          </a:prstGeom>
        </p:spPr>
      </p:pic>
      <p:sp>
        <p:nvSpPr>
          <p:cNvPr id="10" name="TextBox 9">
            <a:extLst>
              <a:ext uri="{FF2B5EF4-FFF2-40B4-BE49-F238E27FC236}">
                <a16:creationId xmlns:a16="http://schemas.microsoft.com/office/drawing/2014/main" id="{EED9B697-2E48-D88C-76C6-B5C84192E283}"/>
              </a:ext>
            </a:extLst>
          </p:cNvPr>
          <p:cNvSpPr txBox="1"/>
          <p:nvPr/>
        </p:nvSpPr>
        <p:spPr>
          <a:xfrm>
            <a:off x="548736" y="2059393"/>
            <a:ext cx="6665734"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500" dirty="0"/>
              <a:t>Question 2: The 3 Clusters show 3 different types of platforms. Cluster 0 shows platforms that did poorly overall and most of that success was one game. Cluster 1 shows games that did poorly but had various different games make up those sales. Cluster 2 shows games that performed well and were not dominated by any one game. This shows that if a platform did well it was unlikely to by dominated by just one game and overall have a healthy ecosystem, but if a console performed poorly, it was likely pushed with very few games leading to certain games dominating</a:t>
            </a:r>
          </a:p>
          <a:p>
            <a:pPr marL="285750" indent="-285750">
              <a:buFont typeface="Arial"/>
              <a:buChar char="•"/>
            </a:pPr>
            <a:r>
              <a:rPr lang="en-US" sz="1500" dirty="0"/>
              <a:t>Question 3: The 3 clusters in this contained data on how much of that years sales were in each region. Cluster 0 is composed mostly of sales in Japan with over 50% of sales being in Japan showing that in the late 80s early 90s Japan was dominating the video game market while North America remained in 2nd. Cluster 1 is mainly composed by North America with 47% followed by Europe with 29% showing a significant shift away from Japan in  the late 90s towards North America and Europe. Cluster 2 is Dominated by North America with over 78% of sales being in North America showing North America had a commanding lead at the start.</a:t>
            </a:r>
          </a:p>
        </p:txBody>
      </p:sp>
    </p:spTree>
    <p:extLst>
      <p:ext uri="{BB962C8B-B14F-4D97-AF65-F5344CB8AC3E}">
        <p14:creationId xmlns:p14="http://schemas.microsoft.com/office/powerpoint/2010/main" val="3884159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2547-D655-B724-04A3-741262178F8B}"/>
              </a:ext>
            </a:extLst>
          </p:cNvPr>
          <p:cNvSpPr>
            <a:spLocks noGrp="1"/>
          </p:cNvSpPr>
          <p:nvPr>
            <p:ph type="title"/>
          </p:nvPr>
        </p:nvSpPr>
        <p:spPr/>
        <p:txBody>
          <a:bodyPr/>
          <a:lstStyle/>
          <a:p>
            <a:r>
              <a:rPr lang="en-US" dirty="0"/>
              <a:t>Results (</a:t>
            </a:r>
            <a:r>
              <a:rPr lang="en-US" dirty="0" err="1"/>
              <a:t>FPGrowth</a:t>
            </a:r>
            <a:r>
              <a:rPr lang="en-US" dirty="0"/>
              <a:t>)</a:t>
            </a:r>
          </a:p>
        </p:txBody>
      </p:sp>
      <p:pic>
        <p:nvPicPr>
          <p:cNvPr id="7" name="Content Placeholder 6">
            <a:extLst>
              <a:ext uri="{FF2B5EF4-FFF2-40B4-BE49-F238E27FC236}">
                <a16:creationId xmlns:a16="http://schemas.microsoft.com/office/drawing/2014/main" id="{9F79A39D-F1DE-77FB-7B60-6F42CB3FF026}"/>
              </a:ext>
            </a:extLst>
          </p:cNvPr>
          <p:cNvPicPr>
            <a:picLocks noGrp="1" noChangeAspect="1"/>
          </p:cNvPicPr>
          <p:nvPr>
            <p:ph idx="1"/>
          </p:nvPr>
        </p:nvPicPr>
        <p:blipFill>
          <a:blip r:embed="rId2"/>
          <a:stretch>
            <a:fillRect/>
          </a:stretch>
        </p:blipFill>
        <p:spPr>
          <a:xfrm>
            <a:off x="5798657" y="1301142"/>
            <a:ext cx="6292878" cy="2713503"/>
          </a:xfrm>
          <a:prstGeom prst="rect">
            <a:avLst/>
          </a:prstGeom>
        </p:spPr>
      </p:pic>
      <p:sp>
        <p:nvSpPr>
          <p:cNvPr id="4" name="Date Placeholder 3">
            <a:extLst>
              <a:ext uri="{FF2B5EF4-FFF2-40B4-BE49-F238E27FC236}">
                <a16:creationId xmlns:a16="http://schemas.microsoft.com/office/drawing/2014/main" id="{941B5215-7F80-A96F-481A-E3C57D4935B9}"/>
              </a:ext>
            </a:extLst>
          </p:cNvPr>
          <p:cNvSpPr>
            <a:spLocks noGrp="1"/>
          </p:cNvSpPr>
          <p:nvPr>
            <p:ph type="dt" sz="half" idx="10"/>
          </p:nvPr>
        </p:nvSpPr>
        <p:spPr/>
        <p:txBody>
          <a:bodyPr/>
          <a:lstStyle/>
          <a:p>
            <a:fld id="{1B267163-E0A0-4D73-91E2-0A626A2C29AE}" type="datetime1">
              <a:t>4/25/2026</a:t>
            </a:fld>
            <a:endParaRPr lang="en-US" dirty="0"/>
          </a:p>
        </p:txBody>
      </p:sp>
      <p:sp>
        <p:nvSpPr>
          <p:cNvPr id="5" name="Footer Placeholder 4">
            <a:extLst>
              <a:ext uri="{FF2B5EF4-FFF2-40B4-BE49-F238E27FC236}">
                <a16:creationId xmlns:a16="http://schemas.microsoft.com/office/drawing/2014/main" id="{6D7C31E4-3059-577B-ACE5-3B61577A68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A5BD411-28C2-C440-12E6-CB1C046CAF0B}"/>
              </a:ext>
            </a:extLst>
          </p:cNvPr>
          <p:cNvSpPr>
            <a:spLocks noGrp="1"/>
          </p:cNvSpPr>
          <p:nvPr>
            <p:ph type="sldNum" sz="quarter" idx="12"/>
          </p:nvPr>
        </p:nvSpPr>
        <p:spPr/>
        <p:txBody>
          <a:bodyPr/>
          <a:lstStyle/>
          <a:p>
            <a:fld id="{A65A5C87-DF58-40C8-B092-1DE63DB4547E}" type="slidenum">
              <a:rPr lang="en-US" dirty="0"/>
              <a:t>8</a:t>
            </a:fld>
            <a:endParaRPr lang="en-US" dirty="0"/>
          </a:p>
        </p:txBody>
      </p:sp>
      <p:sp>
        <p:nvSpPr>
          <p:cNvPr id="10" name="TextBox 9">
            <a:extLst>
              <a:ext uri="{FF2B5EF4-FFF2-40B4-BE49-F238E27FC236}">
                <a16:creationId xmlns:a16="http://schemas.microsoft.com/office/drawing/2014/main" id="{D3D6DF98-EA55-D0BC-2278-BD207833A417}"/>
              </a:ext>
            </a:extLst>
          </p:cNvPr>
          <p:cNvSpPr txBox="1"/>
          <p:nvPr/>
        </p:nvSpPr>
        <p:spPr>
          <a:xfrm>
            <a:off x="505070" y="2657108"/>
            <a:ext cx="542078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Question 1: Overall the publisher of a game has very little effect on the success of a game with platform and success in other regions being more important. The one exception is Nintendo which succeeds more often than not in Japan and in the 2000s in North America</a:t>
            </a:r>
          </a:p>
          <a:p>
            <a:pPr marL="285750" indent="-285750">
              <a:buFont typeface="Arial"/>
              <a:buChar char="•"/>
            </a:pPr>
            <a:r>
              <a:rPr lang="en-US" dirty="0"/>
              <a:t>Question 2: Healthy platforms contain lots of </a:t>
            </a:r>
            <a:r>
              <a:rPr lang="en-US" dirty="0" err="1"/>
              <a:t>gamesthat</a:t>
            </a:r>
            <a:r>
              <a:rPr lang="en-US" dirty="0"/>
              <a:t> succeed and the </a:t>
            </a:r>
            <a:r>
              <a:rPr lang="en-US" dirty="0" err="1"/>
              <a:t>FPGrowth</a:t>
            </a:r>
            <a:r>
              <a:rPr lang="en-US" dirty="0"/>
              <a:t> shows this with </a:t>
            </a:r>
            <a:r>
              <a:rPr lang="en-US" dirty="0" err="1"/>
              <a:t>theGame</a:t>
            </a:r>
            <a:r>
              <a:rPr lang="en-US" dirty="0"/>
              <a:t> Cube, </a:t>
            </a:r>
            <a:r>
              <a:rPr lang="en-US" dirty="0" err="1"/>
              <a:t>XBox</a:t>
            </a:r>
            <a:r>
              <a:rPr lang="en-US" dirty="0"/>
              <a:t>, </a:t>
            </a:r>
            <a:r>
              <a:rPr lang="en-US" dirty="0" err="1"/>
              <a:t>Playstation</a:t>
            </a:r>
            <a:r>
              <a:rPr lang="en-US" dirty="0"/>
              <a:t>, Sega Saturn, </a:t>
            </a:r>
            <a:r>
              <a:rPr lang="en-US" dirty="0" err="1"/>
              <a:t>andSNES</a:t>
            </a:r>
            <a:r>
              <a:rPr lang="en-US" dirty="0"/>
              <a:t>.</a:t>
            </a:r>
          </a:p>
        </p:txBody>
      </p:sp>
      <p:sp>
        <p:nvSpPr>
          <p:cNvPr id="11" name="TextBox 10">
            <a:extLst>
              <a:ext uri="{FF2B5EF4-FFF2-40B4-BE49-F238E27FC236}">
                <a16:creationId xmlns:a16="http://schemas.microsoft.com/office/drawing/2014/main" id="{2B32B78C-3860-30F5-32B4-00CA7913DA26}"/>
              </a:ext>
            </a:extLst>
          </p:cNvPr>
          <p:cNvSpPr txBox="1"/>
          <p:nvPr/>
        </p:nvSpPr>
        <p:spPr>
          <a:xfrm>
            <a:off x="5891023" y="4416299"/>
            <a:ext cx="610084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Question 3: The 90s and 2000s are the periods with the most </a:t>
            </a:r>
            <a:r>
              <a:rPr lang="en-US"/>
              <a:t>appearances</a:t>
            </a:r>
            <a:r>
              <a:rPr lang="en-US" dirty="0"/>
              <a:t> in the top predictors showing that games sold in this time were most successful </a:t>
            </a:r>
            <a:r>
              <a:rPr lang="en-US"/>
              <a:t>while the 2010s shows less often but still more than the 80s which does not appear.</a:t>
            </a:r>
            <a:endParaRPr lang="en-US" dirty="0"/>
          </a:p>
        </p:txBody>
      </p:sp>
    </p:spTree>
    <p:extLst>
      <p:ext uri="{BB962C8B-B14F-4D97-AF65-F5344CB8AC3E}">
        <p14:creationId xmlns:p14="http://schemas.microsoft.com/office/powerpoint/2010/main" val="949796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5B5A-9999-D9CE-1C08-3480A91114E9}"/>
              </a:ext>
            </a:extLst>
          </p:cNvPr>
          <p:cNvSpPr>
            <a:spLocks noGrp="1"/>
          </p:cNvSpPr>
          <p:nvPr>
            <p:ph type="title"/>
          </p:nvPr>
        </p:nvSpPr>
        <p:spPr/>
        <p:txBody>
          <a:bodyPr/>
          <a:lstStyle/>
          <a:p>
            <a:r>
              <a:rPr lang="en-US"/>
              <a:t>Results (Isolation Forest)</a:t>
            </a:r>
          </a:p>
        </p:txBody>
      </p:sp>
      <p:pic>
        <p:nvPicPr>
          <p:cNvPr id="7" name="Content Placeholder 6" descr="A graph of blue and red dots&#10;&#10;AI-generated content may be incorrect.">
            <a:extLst>
              <a:ext uri="{FF2B5EF4-FFF2-40B4-BE49-F238E27FC236}">
                <a16:creationId xmlns:a16="http://schemas.microsoft.com/office/drawing/2014/main" id="{34D7C40A-EAD5-BDB4-F18B-7DBCCE4DA065}"/>
              </a:ext>
            </a:extLst>
          </p:cNvPr>
          <p:cNvPicPr>
            <a:picLocks noGrp="1" noChangeAspect="1"/>
          </p:cNvPicPr>
          <p:nvPr>
            <p:ph idx="1"/>
          </p:nvPr>
        </p:nvPicPr>
        <p:blipFill>
          <a:blip r:embed="rId2"/>
          <a:stretch>
            <a:fillRect/>
          </a:stretch>
        </p:blipFill>
        <p:spPr>
          <a:xfrm>
            <a:off x="8388443" y="4609041"/>
            <a:ext cx="3578173" cy="2234753"/>
          </a:xfrm>
          <a:prstGeom prst="rect">
            <a:avLst/>
          </a:prstGeom>
        </p:spPr>
      </p:pic>
      <p:sp>
        <p:nvSpPr>
          <p:cNvPr id="4" name="Date Placeholder 3">
            <a:extLst>
              <a:ext uri="{FF2B5EF4-FFF2-40B4-BE49-F238E27FC236}">
                <a16:creationId xmlns:a16="http://schemas.microsoft.com/office/drawing/2014/main" id="{4B8781E4-14E1-CE80-F66A-33103DE29F47}"/>
              </a:ext>
            </a:extLst>
          </p:cNvPr>
          <p:cNvSpPr>
            <a:spLocks noGrp="1"/>
          </p:cNvSpPr>
          <p:nvPr>
            <p:ph type="dt" sz="half" idx="10"/>
          </p:nvPr>
        </p:nvSpPr>
        <p:spPr/>
        <p:txBody>
          <a:bodyPr/>
          <a:lstStyle/>
          <a:p>
            <a:fld id="{37244BAB-BC17-4A7B-BB08-2CFA0649A578}" type="datetime1">
              <a:t>4/25/2026</a:t>
            </a:fld>
            <a:endParaRPr lang="en-US" dirty="0"/>
          </a:p>
        </p:txBody>
      </p:sp>
      <p:sp>
        <p:nvSpPr>
          <p:cNvPr id="5" name="Footer Placeholder 4">
            <a:extLst>
              <a:ext uri="{FF2B5EF4-FFF2-40B4-BE49-F238E27FC236}">
                <a16:creationId xmlns:a16="http://schemas.microsoft.com/office/drawing/2014/main" id="{4B52E9C4-7898-89E2-2872-00FE8227161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DB5ED1-BFAE-FDC8-0691-6EC84333F2FD}"/>
              </a:ext>
            </a:extLst>
          </p:cNvPr>
          <p:cNvSpPr>
            <a:spLocks noGrp="1"/>
          </p:cNvSpPr>
          <p:nvPr>
            <p:ph type="sldNum" sz="quarter" idx="12"/>
          </p:nvPr>
        </p:nvSpPr>
        <p:spPr/>
        <p:txBody>
          <a:bodyPr/>
          <a:lstStyle/>
          <a:p>
            <a:fld id="{A65A5C87-DF58-40C8-B092-1DE63DB4547E}" type="slidenum">
              <a:rPr lang="en-US" dirty="0"/>
              <a:t>9</a:t>
            </a:fld>
            <a:endParaRPr lang="en-US" dirty="0"/>
          </a:p>
        </p:txBody>
      </p:sp>
      <p:pic>
        <p:nvPicPr>
          <p:cNvPr id="8" name="Picture 7" descr="A graph showing a number of dots&#10;&#10;AI-generated content may be incorrect.">
            <a:extLst>
              <a:ext uri="{FF2B5EF4-FFF2-40B4-BE49-F238E27FC236}">
                <a16:creationId xmlns:a16="http://schemas.microsoft.com/office/drawing/2014/main" id="{1C525D9B-D6FB-C6FC-FF86-121A1C3AA4F2}"/>
              </a:ext>
            </a:extLst>
          </p:cNvPr>
          <p:cNvPicPr>
            <a:picLocks noChangeAspect="1"/>
          </p:cNvPicPr>
          <p:nvPr/>
        </p:nvPicPr>
        <p:blipFill>
          <a:blip r:embed="rId3"/>
          <a:stretch>
            <a:fillRect/>
          </a:stretch>
        </p:blipFill>
        <p:spPr>
          <a:xfrm>
            <a:off x="8388022" y="2376407"/>
            <a:ext cx="3578394" cy="2234340"/>
          </a:xfrm>
          <a:prstGeom prst="rect">
            <a:avLst/>
          </a:prstGeom>
        </p:spPr>
      </p:pic>
      <p:pic>
        <p:nvPicPr>
          <p:cNvPr id="9" name="Picture 8">
            <a:extLst>
              <a:ext uri="{FF2B5EF4-FFF2-40B4-BE49-F238E27FC236}">
                <a16:creationId xmlns:a16="http://schemas.microsoft.com/office/drawing/2014/main" id="{94694171-BC4A-C18F-118C-477B7961DDD6}"/>
              </a:ext>
            </a:extLst>
          </p:cNvPr>
          <p:cNvPicPr>
            <a:picLocks noChangeAspect="1"/>
          </p:cNvPicPr>
          <p:nvPr/>
        </p:nvPicPr>
        <p:blipFill>
          <a:blip r:embed="rId4"/>
          <a:stretch>
            <a:fillRect/>
          </a:stretch>
        </p:blipFill>
        <p:spPr>
          <a:xfrm>
            <a:off x="8384792" y="138838"/>
            <a:ext cx="3793834" cy="2234341"/>
          </a:xfrm>
          <a:prstGeom prst="rect">
            <a:avLst/>
          </a:prstGeom>
        </p:spPr>
      </p:pic>
      <p:sp>
        <p:nvSpPr>
          <p:cNvPr id="10" name="TextBox 9">
            <a:extLst>
              <a:ext uri="{FF2B5EF4-FFF2-40B4-BE49-F238E27FC236}">
                <a16:creationId xmlns:a16="http://schemas.microsoft.com/office/drawing/2014/main" id="{CEE70F91-672C-C8C9-26BB-A2441105F3CB}"/>
              </a:ext>
            </a:extLst>
          </p:cNvPr>
          <p:cNvSpPr txBox="1"/>
          <p:nvPr/>
        </p:nvSpPr>
        <p:spPr>
          <a:xfrm>
            <a:off x="581032" y="2195011"/>
            <a:ext cx="755342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t>The graph itself shows very little as the anomalies are all the highest sellers in the three major markets</a:t>
            </a:r>
          </a:p>
          <a:p>
            <a:pPr marL="285750" indent="-285750">
              <a:buFont typeface="Arial"/>
              <a:buChar char="•"/>
            </a:pPr>
            <a:r>
              <a:rPr lang="en-US" sz="2400" dirty="0"/>
              <a:t>All games in the top 10 anomalies were published by Nintendo once again showcasing that Nintendo </a:t>
            </a:r>
            <a:r>
              <a:rPr lang="en-US" sz="2400"/>
              <a:t>is the outlier when it comes to publishers</a:t>
            </a:r>
            <a:endParaRPr lang="en-US" sz="2400" dirty="0"/>
          </a:p>
          <a:p>
            <a:pPr marL="285750" indent="-285750">
              <a:buFont typeface="Arial"/>
              <a:buChar char="•"/>
            </a:pPr>
            <a:endParaRPr lang="en-US" sz="2400" dirty="0"/>
          </a:p>
        </p:txBody>
      </p:sp>
    </p:spTree>
    <p:extLst>
      <p:ext uri="{BB962C8B-B14F-4D97-AF65-F5344CB8AC3E}">
        <p14:creationId xmlns:p14="http://schemas.microsoft.com/office/powerpoint/2010/main" val="2334610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EB2F-3850-FA33-AF1C-E157EC859043}"/>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805211F4-7C3A-B62C-11B7-A6604CD44002}"/>
              </a:ext>
            </a:extLst>
          </p:cNvPr>
          <p:cNvSpPr>
            <a:spLocks noGrp="1"/>
          </p:cNvSpPr>
          <p:nvPr>
            <p:ph idx="1"/>
          </p:nvPr>
        </p:nvSpPr>
        <p:spPr/>
        <p:txBody>
          <a:bodyPr vert="horz" lIns="91440" tIns="45720" rIns="91440" bIns="45720" rtlCol="0" anchor="t">
            <a:normAutofit fontScale="92500" lnSpcReduction="20000"/>
          </a:bodyPr>
          <a:lstStyle/>
          <a:p>
            <a:r>
              <a:rPr lang="en-US" sz="1800" dirty="0"/>
              <a:t>Question 1: The data shows that publishers have very little effect on sales meaning, with the exception of Nintendo which performs well in its homeland of Japan as well as North America in the 2000s. While the markets have games that only sell well in certain markets there is not enough evidence to prove this is because of the publisher.</a:t>
            </a:r>
          </a:p>
          <a:p>
            <a:r>
              <a:rPr lang="en-US" sz="1800" dirty="0"/>
              <a:t>Question 2: Platforms that perform well are almost always healthy as lots of games are released on them not allowing for any one game to dominate the platform. Platforms that sell poorly however are much more prone to having one game make up most of the sales crushing all competition.</a:t>
            </a:r>
          </a:p>
          <a:p>
            <a:r>
              <a:rPr lang="en-US" sz="1800" dirty="0"/>
              <a:t>Question 3: There are 3 main stages in the video game market as of now. The first stage is the early stage dominated by American and Japanese markets making comparatively small sales in the 80s , dominated by North America, and early 90s, dominated by Japan. The second stage is from the late 90s to the 2010s with a massive increase in sales as well as leaving Japan behind while Europe begins to enter the fray. The final stage is the 2010s to the present where</a:t>
            </a:r>
            <a:r>
              <a:rPr lang="en-US" sz="1800"/>
              <a:t> total sales begin to decrease.</a:t>
            </a:r>
          </a:p>
        </p:txBody>
      </p:sp>
      <p:sp>
        <p:nvSpPr>
          <p:cNvPr id="4" name="Date Placeholder 3">
            <a:extLst>
              <a:ext uri="{FF2B5EF4-FFF2-40B4-BE49-F238E27FC236}">
                <a16:creationId xmlns:a16="http://schemas.microsoft.com/office/drawing/2014/main" id="{66CF8A36-516F-E028-D171-3E538DB29B83}"/>
              </a:ext>
            </a:extLst>
          </p:cNvPr>
          <p:cNvSpPr>
            <a:spLocks noGrp="1"/>
          </p:cNvSpPr>
          <p:nvPr>
            <p:ph type="dt" sz="half" idx="10"/>
          </p:nvPr>
        </p:nvSpPr>
        <p:spPr/>
        <p:txBody>
          <a:bodyPr/>
          <a:lstStyle/>
          <a:p>
            <a:fld id="{5A6A8D64-92A5-4298-AA6E-2B4A0EFEEF4C}" type="datetime1">
              <a:t>4/25/2026</a:t>
            </a:fld>
            <a:endParaRPr lang="en-US" dirty="0"/>
          </a:p>
        </p:txBody>
      </p:sp>
      <p:sp>
        <p:nvSpPr>
          <p:cNvPr id="5" name="Footer Placeholder 4">
            <a:extLst>
              <a:ext uri="{FF2B5EF4-FFF2-40B4-BE49-F238E27FC236}">
                <a16:creationId xmlns:a16="http://schemas.microsoft.com/office/drawing/2014/main" id="{B7DB60E9-13CD-8354-1B72-4880E6AA3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97E4B12-75CA-2C01-34B7-1D4F8345F1EE}"/>
              </a:ext>
            </a:extLst>
          </p:cNvPr>
          <p:cNvSpPr>
            <a:spLocks noGrp="1"/>
          </p:cNvSpPr>
          <p:nvPr>
            <p:ph type="sldNum" sz="quarter" idx="12"/>
          </p:nvPr>
        </p:nvSpPr>
        <p:spPr/>
        <p:txBody>
          <a:bodyPr/>
          <a:lstStyle/>
          <a:p>
            <a:fld id="{A65A5C87-DF58-40C8-B092-1DE63DB4547E}" type="slidenum">
              <a:rPr lang="en-US" dirty="0"/>
              <a:t>10</a:t>
            </a:fld>
            <a:endParaRPr lang="en-US" dirty="0"/>
          </a:p>
        </p:txBody>
      </p:sp>
    </p:spTree>
    <p:extLst>
      <p:ext uri="{BB962C8B-B14F-4D97-AF65-F5344CB8AC3E}">
        <p14:creationId xmlns:p14="http://schemas.microsoft.com/office/powerpoint/2010/main" val="4204697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45B5-D838-6A10-3875-A9F6ADE347EC}"/>
              </a:ext>
            </a:extLst>
          </p:cNvPr>
          <p:cNvSpPr>
            <a:spLocks noGrp="1"/>
          </p:cNvSpPr>
          <p:nvPr>
            <p:ph type="title"/>
          </p:nvPr>
        </p:nvSpPr>
        <p:spPr/>
        <p:txBody>
          <a:bodyPr/>
          <a:lstStyle/>
          <a:p>
            <a:r>
              <a:rPr lang="en-US"/>
              <a:t>Q&amp;A</a:t>
            </a:r>
          </a:p>
        </p:txBody>
      </p:sp>
      <p:sp>
        <p:nvSpPr>
          <p:cNvPr id="3" name="Content Placeholder 2">
            <a:extLst>
              <a:ext uri="{FF2B5EF4-FFF2-40B4-BE49-F238E27FC236}">
                <a16:creationId xmlns:a16="http://schemas.microsoft.com/office/drawing/2014/main" id="{C84BB704-0906-FB72-CF04-6C6DEC257093}"/>
              </a:ext>
            </a:extLst>
          </p:cNvPr>
          <p:cNvSpPr>
            <a:spLocks noGrp="1"/>
          </p:cNvSpPr>
          <p:nvPr>
            <p:ph idx="1"/>
          </p:nvPr>
        </p:nvSpPr>
        <p:spPr/>
        <p:txBody>
          <a:bodyPr vert="horz" lIns="91440" tIns="45720" rIns="91440" bIns="45720" rtlCol="0" anchor="t">
            <a:normAutofit/>
          </a:bodyPr>
          <a:lstStyle/>
          <a:p>
            <a:r>
              <a:rPr lang="en-US" dirty="0"/>
              <a:t>Why did I chose </a:t>
            </a:r>
            <a:r>
              <a:rPr lang="en-US" dirty="0" err="1"/>
              <a:t>FPGrowth</a:t>
            </a:r>
            <a:r>
              <a:rPr lang="en-US" dirty="0"/>
              <a:t> and K-Means?</a:t>
            </a:r>
          </a:p>
          <a:p>
            <a:r>
              <a:rPr lang="en-US"/>
              <a:t>Where there any limitations in the dataset?</a:t>
            </a:r>
          </a:p>
          <a:p>
            <a:r>
              <a:rPr lang="en-US"/>
              <a:t>How confident am I in my conclusions</a:t>
            </a:r>
            <a:endParaRPr lang="en-US" dirty="0"/>
          </a:p>
        </p:txBody>
      </p:sp>
      <p:sp>
        <p:nvSpPr>
          <p:cNvPr id="4" name="Date Placeholder 3">
            <a:extLst>
              <a:ext uri="{FF2B5EF4-FFF2-40B4-BE49-F238E27FC236}">
                <a16:creationId xmlns:a16="http://schemas.microsoft.com/office/drawing/2014/main" id="{D4C3A761-F1DE-396F-BE2E-FC84FB39BDC6}"/>
              </a:ext>
            </a:extLst>
          </p:cNvPr>
          <p:cNvSpPr>
            <a:spLocks noGrp="1"/>
          </p:cNvSpPr>
          <p:nvPr>
            <p:ph type="dt" sz="half" idx="10"/>
          </p:nvPr>
        </p:nvSpPr>
        <p:spPr/>
        <p:txBody>
          <a:bodyPr/>
          <a:lstStyle/>
          <a:p>
            <a:fld id="{B4B4A8FE-10FC-43B4-9916-028AAAD173AE}" type="datetime1">
              <a:t>4/25/2026</a:t>
            </a:fld>
            <a:endParaRPr lang="en-US" dirty="0"/>
          </a:p>
        </p:txBody>
      </p:sp>
      <p:sp>
        <p:nvSpPr>
          <p:cNvPr id="5" name="Footer Placeholder 4">
            <a:extLst>
              <a:ext uri="{FF2B5EF4-FFF2-40B4-BE49-F238E27FC236}">
                <a16:creationId xmlns:a16="http://schemas.microsoft.com/office/drawing/2014/main" id="{215D7C4A-331E-9CD0-A805-A8D12FDEDC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98D199-6749-4BB6-34CB-EC5A96AF1FA4}"/>
              </a:ext>
            </a:extLst>
          </p:cNvPr>
          <p:cNvSpPr>
            <a:spLocks noGrp="1"/>
          </p:cNvSpPr>
          <p:nvPr>
            <p:ph type="sldNum" sz="quarter" idx="12"/>
          </p:nvPr>
        </p:nvSpPr>
        <p:spPr/>
        <p:txBody>
          <a:bodyPr/>
          <a:lstStyle/>
          <a:p>
            <a:fld id="{A65A5C87-DF58-40C8-B092-1DE63DB4547E}" type="slidenum">
              <a:rPr lang="en-US" dirty="0"/>
              <a:t>11</a:t>
            </a:fld>
            <a:endParaRPr lang="en-US" dirty="0"/>
          </a:p>
        </p:txBody>
      </p:sp>
    </p:spTree>
    <p:extLst>
      <p:ext uri="{BB962C8B-B14F-4D97-AF65-F5344CB8AC3E}">
        <p14:creationId xmlns:p14="http://schemas.microsoft.com/office/powerpoint/2010/main" val="118342960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AccentBoxVTI</vt:lpstr>
      <vt:lpstr>Video Game Sales Analysis</vt:lpstr>
      <vt:lpstr>Project Overview</vt:lpstr>
      <vt:lpstr>Discovery Questions</vt:lpstr>
      <vt:lpstr>Methods Used (K-Means)</vt:lpstr>
      <vt:lpstr>Methods Used (Cont.)</vt:lpstr>
      <vt:lpstr>Results K-Means (Question 1) </vt:lpstr>
      <vt:lpstr>Results: K-Means (Questions 1 and 2) </vt:lpstr>
      <vt:lpstr>Results (FPGrowth)</vt:lpstr>
      <vt:lpstr>Results (Isolation Forest)</vt:lpstr>
      <vt:lpstr>Conclusion</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525</cp:revision>
  <dcterms:created xsi:type="dcterms:W3CDTF">2026-04-25T19:14:17Z</dcterms:created>
  <dcterms:modified xsi:type="dcterms:W3CDTF">2026-04-25T21:12:14Z</dcterms:modified>
</cp:coreProperties>
</file>